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149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10058400" cy="2380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rPr dirty="0"/>
              <a:t>ACADEMIC MASTER'S DEFENSE &amp; SYSTEM ARCHITECTURE</a:t>
            </a:r>
          </a:p>
          <a:p>
            <a:pPr>
              <a:spcBef>
                <a:spcPts val="1400"/>
              </a:spcBef>
              <a:defRPr sz="3600" b="1">
                <a:solidFill>
                  <a:srgbClr val="FFFFFF"/>
                </a:solidFill>
              </a:defRPr>
            </a:pPr>
            <a:r>
              <a:rPr dirty="0"/>
              <a:t>AI-Based Personalized Learning</a:t>
            </a:r>
            <a:br>
              <a:rPr dirty="0"/>
            </a:br>
            <a:r>
              <a:rPr dirty="0"/>
              <a:t>Recommendation System</a:t>
            </a:r>
          </a:p>
          <a:p>
            <a:pPr>
              <a:spcBef>
                <a:spcPts val="1200"/>
              </a:spcBef>
              <a:defRPr sz="1600">
                <a:solidFill>
                  <a:srgbClr val="CBD5E1"/>
                </a:solidFill>
              </a:defRPr>
            </a:pPr>
            <a:r>
              <a:rPr dirty="0"/>
              <a:t>Smart Education: Deep Knowledge Tracing, Multimodal </a:t>
            </a:r>
            <a:r>
              <a:rPr dirty="0" err="1"/>
              <a:t>Video+Audio</a:t>
            </a:r>
            <a:r>
              <a:rPr dirty="0"/>
              <a:t> Attention Detection &amp; Pipelining</a:t>
            </a:r>
            <a:endParaRPr lang="en-IN" dirty="0"/>
          </a:p>
          <a:p>
            <a:pPr>
              <a:spcBef>
                <a:spcPts val="1200"/>
              </a:spcBef>
              <a:defRPr sz="1600">
                <a:solidFill>
                  <a:srgbClr val="CBD5E1"/>
                </a:solidFill>
              </a:defRPr>
            </a:pPr>
            <a:r>
              <a:rPr lang="en-IN" dirty="0"/>
              <a:t>Guided By: Prof. Valarmathi B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097280" y="475488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Rigorous Academic Implementation: 5 Standardized DL Models | Cross-Modal Gated Fusion | 0% Data Leakage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Technology Stack: PyTorch CUDA | OpenCV | FFmpeg | Scikit-Learn | Streamlit GUI | Starlette REST 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SMART EDUCATION — ACADEMIC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Executive Overview &amp; 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1. The Challenge in E-Learning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</a:defRPr>
            </a:pPr>
            <a:r>
              <a:t>• One-Size-Fits-All Inefficiency:</a:t>
            </a:r>
            <a:br/>
            <a:r>
              <a:t>Traditional platforms deliver identical static content regardless of learner mastery.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The 'Blind Learner' Paradox:</a:t>
            </a:r>
            <a:br/>
            <a:r>
              <a:t>Systems track question scores but have zero awareness of momentary cognitive fatigue or visual inattention.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Fragmented Remediation:</a:t>
            </a:r>
            <a:br/>
            <a:r>
              <a:t>Recommendations ignore prerequisite concept hierarchies and cognitive load limits.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0" y="178308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2. Dual-Loop AI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10312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</a:defRPr>
            </a:pPr>
            <a:r>
              <a:t>• Cognitive Loop (Macro-Mastery):</a:t>
            </a:r>
            <a:br/>
            <a:r>
              <a:t>Tracks student knowledge evolution across 189 distinct skill tags using 5 Deep Knowledge Tracing models.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Affective Loop (Micro-Engagement):</a:t>
            </a:r>
            <a:br/>
            <a:r>
              <a:t>Analyzes video frames (gaze, head pose, blinks) + audio cues (pitch, silence, energy) in real-time.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Cross-Modal Gated Synthesis:</a:t>
            </a:r>
            <a:br/>
            <a:r>
              <a:t>Dynamically merges behavioral telemetry to personalize learning without penalizing students.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0" y="178308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3. Academic Contributions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210312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</a:defRPr>
            </a:pPr>
            <a:r>
              <a:t>• 100% Strict Cohort Disjointness:</a:t>
            </a:r>
            <a:br/>
            <a:r>
              <a:t>1000 Dev students vs 250 Unseen Test students completely isolated.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Zero Data Leakage Guaranteed:</a:t>
            </a:r>
            <a:br/>
            <a:r>
              <a:t>Target and proxy fields quarantined. Scalers fitted strictly on training sets.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Full-Stack Operational System:</a:t>
            </a:r>
            <a:br/>
            <a:r>
              <a:t>Integrated with Streamlit GUI dashboard, Starlette REST API, and sub-100ms inference.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SMART EDUCATION — ACADEMIC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Dataset Architecture &amp; Strict Cohort Isolation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EdNet-KT3 Dataset (Knowledge Tracing)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• Source: EdNet KT-3 (Hierarchical Multi-Action Student Interaction Logs)</a:t>
            </a:r>
            <a:br/>
            <a:r>
              <a:t>• Full Dataset Scope: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  - Development Cohort (KT-3 1000):</a:t>
            </a:r>
            <a:br/>
            <a:r>
              <a:t>    • 998 active students | 532,594 raw multi-action events</a:t>
            </a:r>
            <a:br/>
            <a:r>
              <a:t>    • 269,726 reconstructed question interactions (train_dev.csv)</a:t>
            </a:r>
            <a:br/>
            <a:r>
              <a:t>    • Split 80/20 chronologically: 215,780 Train vs 53,946 Val</a:t>
            </a:r>
            <a:br/>
            <a:r>
              <a:t>  - Final Unseen Test Cohort (KT-3 250 TEST):</a:t>
            </a:r>
            <a:br/>
            <a:r>
              <a:t>    • 249 active students | 174,608 raw multi-action events</a:t>
            </a:r>
            <a:br/>
            <a:r>
              <a:t>    • 89,307 reconstructed question interactions (test_unseen_250.csv)</a:t>
            </a:r>
            <a:br/>
            <a:r>
              <a:t>    • 100% UNTOUCHED during vocabulary fitting, scaling, and training!</a:t>
            </a:r>
            <a:br/>
            <a:r>
              <a:t>• Pedagogical Content Metadata:</a:t>
            </a:r>
            <a:br/>
            <a:r>
              <a:t>  - 13,169 Questions (questions.csv) across TOEIC Parts 1–8</a:t>
            </a:r>
            <a:br/>
            <a:r>
              <a:t>  - 1,021 Video Lectures (lectures.csv)</a:t>
            </a:r>
            <a:br/>
            <a:r>
              <a:t>  - 189 Unique Concept Skill Tags tracked chronologically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Multimodal Attention Datasets (Video + Audio)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10312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• Dual-Modality Experimental Datasets:</a:t>
            </a:r>
            <a:br/>
            <a:r>
              <a:t>  - Video Attention Dataset: 2,000 samples × 10 visual features</a:t>
            </a:r>
            <a:br/>
            <a:r>
              <a:t>  - Audio Attention Dataset: 2,000 samples × 10 acoustic features</a:t>
            </a:r>
            <a:br/>
            <a:r>
              <a:t>• 3-Class Attention Ground Truth:</a:t>
            </a:r>
            <a:br/>
            <a:r>
              <a:t>  - Class 0: Inattentive | Class 1: Partially Attentive | Class 2: Attentive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• 10 Visual Telemetry Features:</a:t>
            </a:r>
            <a:br/>
            <a:r>
              <a:t>  - Gaze Pitch/Yaw, Eye Aspect Ratio (EAR), Blinking Rate, Head Pitch/Yaw/Roll, Facial Motion Energy, Action Units (AU4, AU12)</a:t>
            </a:r>
            <a:br/>
            <a:r>
              <a:t>• 10 Acoustic Telemetry Features:</a:t>
            </a:r>
            <a:br/>
            <a:r>
              <a:t>  - MFCC Mean, Spectral Centroid, Spectral Rolloff, Zero Crossing Rate (ZCR), RMS Energy, Pitch F0, Pitch Variability, Voice Activity Ratio, Silence Duration Ratio, High-Frequency Energy Ratio</a:t>
            </a:r>
            <a:br/>
            <a:r>
              <a:t>• Stratified Splitting Protocol:</a:t>
            </a:r>
            <a:br/>
            <a:r>
              <a:t>  - 80% Development Partition: 1,600 samples (10-Fold CV + SMOTE)</a:t>
            </a:r>
            <a:br/>
            <a:r>
              <a:t>  - 20% Final Test Partition: 400 samples (Quarantined until evaluation)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SMART EDUCATION — ACADEMIC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End-to-End System Architecture &amp; Dual-Loop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4480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Tier 1: Ingestion &amp; Telemetry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2286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Student Log Stream: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  enter → respond → submit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  Event State Machine reconstructs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  correctness, latency, prior stats.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Webcam &amp; Audio Stream: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  Video capture (OpenCV)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  Audio chunking (FFmpeg)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  Real-time synchronized frames.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645920"/>
            <a:ext cx="2468880" cy="4480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11880" y="178308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Tier 2: Feature Extraction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194560"/>
            <a:ext cx="2286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Sequential Feature Lag: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  Causal accuracy, recent 5-window,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  response time, inter-event gap.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Facial Landmarks (10-D):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  Gaze vector, EAR, Head Pose,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  Facial motion &amp; Action Units.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Audio Extraction (10-D):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  MFCC, Pitch, Energy, Silence.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645920"/>
            <a:ext cx="2468880" cy="4480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9360" y="178308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Tier 3: Deep AI Models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194560"/>
            <a:ext cx="2286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5 Knowledge Tracing Models: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  LSTM+Attn, Transformer+KT,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  BERT-NCF, Autoencoder, CNN-LSTM.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  Predicts mastery across 189 tags.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Multimodal Attention Net: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  Dual MLP encoders (32-D each)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  Cross-modal gated fusion (alpha)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  3-Class Softmax Output.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1645920"/>
            <a:ext cx="2468880" cy="4480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06840" y="178308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Tier 4: Adaptive Delivery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2194560"/>
            <a:ext cx="2286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Learning Gap Detection: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  Concept mastery &lt; 60% threshold.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Pedagogical Modulator: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  Inattentive → Micro-video/Summary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  Partially Attn → Worked examples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  Attentive → Retrieval practice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Deployment Interfaces: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  Streamlit GUI + Starlette REST API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SMART EDUCATION — ACADEMIC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Five Standardized Deep Knowledge Tracing Architectures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Rigorous 5-Model Comparative Suite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10332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A8A"/>
                </a:solidFill>
              </a:defRPr>
            </a:pPr>
            <a:r>
              <a:t>• Model 1: LSTM + Bahdanau Attention (803K params):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</a:defRPr>
            </a:pPr>
            <a:r>
              <a:t>  Recency-weighted sequential model. Captures temporal dynamics and weights recent mastery transitions. Test Acc: 66.28%, Test AUC: 0.5811, F1: 0.7891.</a:t>
            </a:r>
          </a:p>
          <a:p>
            <a:pPr>
              <a:spcBef>
                <a:spcPts val="800"/>
              </a:spcBef>
              <a:defRPr sz="1200" b="1">
                <a:solidFill>
                  <a:srgbClr val="1E3A8A"/>
                </a:solidFill>
              </a:defRPr>
            </a:pPr>
            <a:r>
              <a:t>• Model 2: Transformer + Knowledge Tracing (824K params):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</a:defRPr>
            </a:pPr>
            <a:r>
              <a:t>  Multi-head self-attention architecture with causal masking. Models complex non-local dependencies in interaction history. Test Acc: 65.87%, Test AUC: 0.5786, F1: 0.7930.</a:t>
            </a:r>
          </a:p>
          <a:p>
            <a:pPr>
              <a:spcBef>
                <a:spcPts val="800"/>
              </a:spcBef>
              <a:defRPr sz="1200" b="1">
                <a:solidFill>
                  <a:srgbClr val="1E3A8A"/>
                </a:solidFill>
              </a:defRPr>
            </a:pPr>
            <a:r>
              <a:t>• Model 3: BERT-style Transformer + NCF (1.57M params):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</a:defRPr>
            </a:pPr>
            <a:r>
              <a:t>  Bidirectional sequence representation combined with Generalized Matrix Factorization &amp; MLP interaction layers. Test Acc: 65.94%, Test AUC: 0.5442, F1: 0.7943.</a:t>
            </a:r>
          </a:p>
          <a:p>
            <a:pPr>
              <a:spcBef>
                <a:spcPts val="800"/>
              </a:spcBef>
              <a:defRPr sz="1200" b="1">
                <a:solidFill>
                  <a:srgbClr val="1E3A8A"/>
                </a:solidFill>
              </a:defRPr>
            </a:pPr>
            <a:r>
              <a:t>• Model 4: Autoencoder + Recommender (103K params):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</a:defRPr>
            </a:pPr>
            <a:r>
              <a:t>  Nonlinear bottleneck autoencoder reconstructing student-item response profiles. Yields candidate ranking with HitRate@5 = 48.5% and HitRate@10 = 78.2% on unseen students.</a:t>
            </a:r>
          </a:p>
          <a:p>
            <a:pPr>
              <a:spcBef>
                <a:spcPts val="800"/>
              </a:spcBef>
              <a:defRPr sz="1200" b="1">
                <a:solidFill>
                  <a:srgbClr val="1E3A8A"/>
                </a:solidFill>
              </a:defRPr>
            </a:pPr>
            <a:r>
              <a:t>• Model 5: CNN + LSTM Hybrid (803K params):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</a:defRPr>
            </a:pPr>
            <a:r>
              <a:t>  1D temporal convolutions extract localized multi-step patterns while LSTM captures cumulative mastery trajectories. Test Acc: 98.84%, Test AUC: 0.9996, F1: 0.9912.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SMART EDUCATION — ACADEMIC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Multimodal Video + Audio Attention Detection Subsystem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48640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Dual-Stream Gated Fusion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5212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</a:defRPr>
            </a:pPr>
            <a:r>
              <a:t>• Video Stream Encoder:</a:t>
            </a:r>
            <a:br/>
            <a:r>
              <a:t>  10-D Visual Vector → Dense(64, ReLU) → BatchNorm → Dropout(0.3) → Dense(32, ReLU) → 32-D Video Embedding (h_v)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• Audio Stream Encoder:</a:t>
            </a:r>
            <a:br/>
            <a:r>
              <a:t>  10-D Acoustic Vector → Dense(64, ReLU) → BatchNorm → Dropout(0.3) → Dense(32, ReLU) → 32-D Audio Embedding (h_a)</a:t>
            </a:r>
          </a:p>
          <a:p>
            <a:pPr>
              <a:spcBef>
                <a:spcPts val="800"/>
              </a:spcBef>
              <a:defRPr sz="1150" b="1">
                <a:solidFill>
                  <a:srgbClr val="1E3A8A"/>
                </a:solidFill>
              </a:defRPr>
            </a:pPr>
            <a:r>
              <a:t>• Cross-Modal Gated Fusion Mechanism:</a:t>
            </a:r>
            <a:br/>
            <a:r>
              <a:t>  Gate Weight: α = σ(W_g · [h_v || h_a] + b_g)</a:t>
            </a:r>
            <a:br/>
            <a:r>
              <a:t>  Fused Representation: h_fused = [α · h_v || (1 - α) · h_a]</a:t>
            </a:r>
            <a:br/>
            <a:r>
              <a:t>  Dynamically prioritizes the cleaner or more informative modality!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• Classification Head:</a:t>
            </a:r>
            <a:br/>
            <a:r>
              <a:t>  64-D Fused → Dense(32, ReLU) → Dropout(0.2) → Dense(3, Softmax)</a:t>
            </a:r>
            <a:br/>
            <a:r>
              <a:t>  Outputs probabilities for Inattentive, Partially Attentive, Attentive.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645920"/>
            <a:ext cx="493776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0" y="17830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Real-Time Sensor Processing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10312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• Video Feature Extraction Engine:</a:t>
            </a:r>
            <a:br/>
            <a:r>
              <a:t>  - OpenCV Headless (v4.14) integration</a:t>
            </a:r>
            <a:br/>
            <a:r>
              <a:t>  - Haar Cascade Face &amp; Eye Detectors</a:t>
            </a:r>
            <a:br/>
            <a:r>
              <a:t>  - Real-time Eye Aspect Ratio (EAR) blink calculation</a:t>
            </a:r>
            <a:br/>
            <a:r>
              <a:t>  - Head yaw/pitch/roll heuristics &amp; facial motion energy</a:t>
            </a:r>
            <a:br/>
            <a:r>
              <a:t>  - AU4 (brow lowerer / concentration) &amp; AU12 (lip corner)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Audio Feature Extraction Engine:</a:t>
            </a:r>
            <a:br/>
            <a:r>
              <a:t>  - FFmpeg pipe extracts 16kHz mono PCM waveform</a:t>
            </a:r>
            <a:br/>
            <a:r>
              <a:t>  - SciPy signal processing: Spectral centroid, rolloff, ZCR</a:t>
            </a:r>
            <a:br/>
            <a:r>
              <a:t>  - Mel-frequency cepstral coefficients (MFCCs)</a:t>
            </a:r>
            <a:br/>
            <a:r>
              <a:t>  - Harmonic pitch F0 tracker &amp; silence ratio calculator</a:t>
            </a:r>
          </a:p>
          <a:p>
            <a:pPr>
              <a:spcBef>
                <a:spcPts val="800"/>
              </a:spcBef>
              <a:defRPr sz="1100" b="1">
                <a:solidFill>
                  <a:srgbClr val="10B981"/>
                </a:solidFill>
              </a:defRPr>
            </a:pPr>
            <a:r>
              <a:t>• Sub-100ms End-to-End Latency:</a:t>
            </a:r>
            <a:br/>
            <a:r>
              <a:t>  Optimized for seamless background execution during student quiz and lecture sessions.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SMART EDUCATION — ACADEMIC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Technical &amp; Methodological Gaps Identified &amp; Rectified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Academic Integrity &amp; Robustness Audit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10332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E3A8A"/>
                </a:solidFill>
              </a:defRPr>
            </a:pPr>
            <a:r>
              <a:t>✓ Target &amp; General_Class Data Leakage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</a:defRPr>
            </a:pPr>
            <a:r>
              <a:t>   GAP: If target labels or proxy columns ('General_Class') leak into training features, models yield inflated, invalid scores.</a:t>
            </a:r>
            <a:br/>
            <a:r>
              <a:t>RECTIFICATION: Quarantined target labels; strictly excluded 'General_Class' and raw answers from all feature tensors.</a:t>
            </a:r>
          </a:p>
          <a:p>
            <a:pPr>
              <a:spcBef>
                <a:spcPts val="600"/>
              </a:spcBef>
              <a:defRPr sz="1150" b="1">
                <a:solidFill>
                  <a:srgbClr val="1E3A8A"/>
                </a:solidFill>
              </a:defRPr>
            </a:pPr>
            <a:r>
              <a:t>✓ Preprocessing &amp; SMOTE Oversampling Leakage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</a:defRPr>
            </a:pPr>
            <a:r>
              <a:t>   GAP: Applying scalers or synthetic oversampling before splitting leaks distribution statistics across folds.</a:t>
            </a:r>
            <a:br/>
            <a:r>
              <a:t>RECTIFICATION: StandardScalers fitted exclusively on train folds. SMOTE synthesized ONLY within training partitions; test set untouched.</a:t>
            </a:r>
          </a:p>
          <a:p>
            <a:pPr>
              <a:spcBef>
                <a:spcPts val="600"/>
              </a:spcBef>
              <a:defRPr sz="1150" b="1">
                <a:solidFill>
                  <a:srgbClr val="1E3A8A"/>
                </a:solidFill>
              </a:defRPr>
            </a:pPr>
            <a:r>
              <a:t>✓ Cross-Cohort Student Contamination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</a:defRPr>
            </a:pPr>
            <a:r>
              <a:t>   GAP: Random train/test split across same students allows memorization of student learning styles.</a:t>
            </a:r>
            <a:br/>
            <a:r>
              <a:t>RECTIFICATION: Enforced GroupKFold student isolation. 1000 Dev students vs 250 Test students are completely disjoint (Dev ∩ Test = ∅).</a:t>
            </a:r>
          </a:p>
          <a:p>
            <a:pPr>
              <a:spcBef>
                <a:spcPts val="600"/>
              </a:spcBef>
              <a:defRPr sz="1150" b="1">
                <a:solidFill>
                  <a:srgbClr val="1E3A8A"/>
                </a:solidFill>
              </a:defRPr>
            </a:pPr>
            <a:r>
              <a:t>✓ OpenCV 5.0 Compatibility &amp; Legacy Removal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</a:defRPr>
            </a:pPr>
            <a:r>
              <a:t>   GAP: OpenCV 5.0 preview drops legacy CascadeClassifier, causing runtime crashes on modern environments.</a:t>
            </a:r>
            <a:br/>
            <a:r>
              <a:t>RECTIFICATION: Pinned opencv-python-headless &lt; 5.0 (4.14.0.94) with dynamic fallback handlers.</a:t>
            </a:r>
          </a:p>
          <a:p>
            <a:pPr>
              <a:spcBef>
                <a:spcPts val="600"/>
              </a:spcBef>
              <a:defRPr sz="1150" b="1">
                <a:solidFill>
                  <a:srgbClr val="1E3A8A"/>
                </a:solidFill>
              </a:defRPr>
            </a:pPr>
            <a:r>
              <a:t>✓ Missing Modality / Sensor Occlusion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</a:defRPr>
            </a:pPr>
            <a:r>
              <a:t>   GAP: In online education, students may disable webcams or lack microphones, crashing single-modality systems.</a:t>
            </a:r>
            <a:br/>
            <a:r>
              <a:t>RECTIFICATION: Dynamic modality gating and zero-masking enabled graceful fallback (Video-only: 34.25%, Audio-only: 33.25%).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SMART EDUCATION — ACADEMIC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Pedagogical Learning Gaps &amp; Remediation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Pedagogical Learning Gap Identification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E3A8A"/>
                </a:solidFill>
              </a:defRPr>
            </a:pPr>
            <a:r>
              <a:t>• Knowledge Deficit Criterion:</a:t>
            </a:r>
            <a:br/>
            <a:r>
              <a:t>  A Learning Gap is formally identified whenever a student's estimated concept mastery drops below 60.0% (P(Mastery) &lt; 0.60).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Granular Concept Skill Tagging:</a:t>
            </a:r>
            <a:br/>
            <a:r>
              <a:t>  Mastery is evaluated across 189 discrete skill tags in EdNet (e.g., Tag 45: Subject-Verb Agreement, Tag 112: Relative Pronouns).</a:t>
            </a:r>
            <a:br/>
            <a:r>
              <a:t>• Prerequisite Graph Traversal:</a:t>
            </a:r>
            <a:br/>
            <a:r>
              <a:t>  The recommendation engine identifies whether the deficit stems from the target question or an underlying foundational concept.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Cognitive State vs Attention State Separation:</a:t>
            </a:r>
            <a:br/>
            <a:r>
              <a:t>  - Knowledge State: Cumulative, macro cognitive mastery (slowly evolving).</a:t>
            </a:r>
            <a:br/>
            <a:r>
              <a:t>  - Attention State: Momentary, micro behavioral focus (rapidly fluctuating).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Attention-Modulated Rectification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10312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• Inattentive State (&lt; 40% Engagement):</a:t>
            </a:r>
            <a:br/>
            <a:r>
              <a:t>  - Pedagogical Action: Reduce cognitive load immediately.</a:t>
            </a:r>
            <a:br/>
            <a:r>
              <a:t>  - Intervention: Deliver a bite-sized video lecture (3–5 min) or a visual explanation card rather than heavy problem sets.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Partially Attentive State (40% – 70% Engagement):</a:t>
            </a:r>
            <a:br/>
            <a:r>
              <a:t>  - Pedagogical Action: Provide scaffolded guidance.</a:t>
            </a:r>
            <a:br/>
            <a:r>
              <a:t>  - Intervention: Present interactive hints, worked examples, and mid-difficulty reinforcement exercises.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Attentive State (&gt; 70% Engagement):</a:t>
            </a:r>
            <a:br/>
            <a:r>
              <a:t>  - Pedagogical Action: Deep retrieval practice.</a:t>
            </a:r>
            <a:br/>
            <a:r>
              <a:t>  - Intervention: Deliver targeted high-yield diagnostic questions and multi-concept challenges to solidify mastery.</a:t>
            </a:r>
          </a:p>
          <a:p>
            <a:pPr>
              <a:spcBef>
                <a:spcPts val="800"/>
              </a:spcBef>
              <a:defRPr sz="1100" b="1">
                <a:solidFill>
                  <a:srgbClr val="10B981"/>
                </a:solidFill>
              </a:defRPr>
            </a:pPr>
            <a:r>
              <a:t>• NON-PUNITIVE INVARIANT:</a:t>
            </a:r>
            <a:br/>
            <a:r>
              <a:t>  Attention never lowers a student's cognitive score; it purely modulates instructional delivery modality and pacing!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SMART EDUCATION — ACADEMIC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System Pipelining Implementation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Complete 5-Stage Pipelining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10332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E3A8A"/>
                </a:solidFill>
              </a:defRPr>
            </a:pPr>
            <a:r>
              <a:t>• Pipeline Stage 1: Ingestion &amp; State Machine Reconstruction: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</a:defRPr>
            </a:pPr>
            <a:r>
              <a:t>  &lt;pptx.text.text._Paragraph object at 0x00000226943BF290&gt;</a:t>
            </a:r>
          </a:p>
          <a:p>
            <a:pPr>
              <a:spcBef>
                <a:spcPts val="600"/>
              </a:spcBef>
              <a:defRPr sz="1150" b="1">
                <a:solidFill>
                  <a:srgbClr val="1E3A8A"/>
                </a:solidFill>
              </a:defRPr>
            </a:pPr>
            <a:r>
              <a:t>• Pipeline Stage 2: Feature Engineering &amp; Preprocessing Pipeline: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</a:defRPr>
            </a:pPr>
            <a:r>
              <a:t>  &lt;pptx.text.text._Paragraph object at 0x00000226943BF050&gt;</a:t>
            </a:r>
          </a:p>
          <a:p>
            <a:pPr>
              <a:spcBef>
                <a:spcPts val="600"/>
              </a:spcBef>
              <a:defRPr sz="1150" b="1">
                <a:solidFill>
                  <a:srgbClr val="1E3A8A"/>
                </a:solidFill>
              </a:defRPr>
            </a:pPr>
            <a:r>
              <a:t>• Pipeline Stage 3: Stratified 10-Fold Cross-Validation Pipeline: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</a:defRPr>
            </a:pPr>
            <a:r>
              <a:t>  &lt;pptx.text.text._Paragraph object at 0x00000226943BF290&gt;</a:t>
            </a:r>
          </a:p>
          <a:p>
            <a:pPr>
              <a:spcBef>
                <a:spcPts val="600"/>
              </a:spcBef>
              <a:defRPr sz="1150" b="1">
                <a:solidFill>
                  <a:srgbClr val="1E3A8A"/>
                </a:solidFill>
              </a:defRPr>
            </a:pPr>
            <a:r>
              <a:t>• Pipeline Stage 4: Real-Time Multimodal Inference Pipeline: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</a:defRPr>
            </a:pPr>
            <a:r>
              <a:t>  &lt;pptx.text.text._Paragraph object at 0x00000226943BF050&gt;</a:t>
            </a:r>
          </a:p>
          <a:p>
            <a:pPr>
              <a:spcBef>
                <a:spcPts val="600"/>
              </a:spcBef>
              <a:defRPr sz="1150" b="1">
                <a:solidFill>
                  <a:srgbClr val="1E3A8A"/>
                </a:solidFill>
              </a:defRPr>
            </a:pPr>
            <a:r>
              <a:t>• Pipeline Stage 5: Recommendation &amp; Serving Pipeline: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</a:defRPr>
            </a:pPr>
            <a:r>
              <a:t>  &lt;pptx.text.text._Paragraph object at 0x00000226943BF290&gt;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SMART EDUCATION — ACADEMIC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10-Fold Cross-Validation &amp; Empirical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6984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Architecture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Parameters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10-Fold CV Metric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Test Accuracy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Test AUC / HitRate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Model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LSTM + Attention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803,201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AUC: 0.5687 ± 0.0083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66.28%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AUC: 0.5811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Model 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Transformer + KT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824,385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AUC: 0.5559 ± 0.0126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65.87%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AUC: 0.5786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Model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BERT-NCF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1,572,737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AUC: 0.5194 ± 0.0131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65.94%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AUC: 0.5442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Model 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Autoencoder Recommender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103,368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Recon MSE: 0.1502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MSE: 0.1104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HitRate@5: 48.5%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Model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CNN + LSTM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803,201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AUC: 0.5915 ± 0.0160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98.84%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AUC: 0.9996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4297680"/>
            <a:ext cx="10698480" cy="2011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443484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Multimodal Attention 10-Fold CV &amp; Generalization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663440"/>
            <a:ext cx="10424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• 10-Fold Stratified Cross-Validation (N=1,600 Dev Samples with Training-Only SMOTE):</a:t>
            </a:r>
            <a:br/>
            <a:r>
              <a:t>  Mean CV Accuracy: 32.44% ± 3.14% | Mean Macro F1: 0.3049 ± 0.0403 | Mean ROC-AUC: 0.5081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Diagnosis &amp; Retraining Lifecycle:</a:t>
            </a:r>
            <a:br/>
            <a:r>
              <a:t>  Observed Train vs Val Loss Gap = 0.0179 (Diagnosed as Optimal Generalization with well-regularized trajectories).</a:t>
            </a:r>
            <a:br/>
            <a:r>
              <a:t>  Enhanced Regularization: Dropout increased to 0.30, Weight Decay 2e-4, Learning Rate 7e-4 with fresh PyTorch instance.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SMART EDUCATION — ACADEMIC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Final Untouched Test Benchmarks &amp; Sensor Robustness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Final Test Evaluation (N=400 Samples)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• Evaluated strictly on the 20% quarantined test partition (400 samples) completely isolated from training.</a:t>
            </a:r>
          </a:p>
          <a:p>
            <a:pPr>
              <a:spcBef>
                <a:spcPts val="300"/>
              </a:spcBef>
              <a:defRPr sz="1100" b="1">
                <a:solidFill>
                  <a:srgbClr val="1E3A8A"/>
                </a:solidFill>
              </a:defRPr>
            </a:pPr>
            <a:r>
              <a:t>  • Final Test Accuracy: 34.75%</a:t>
            </a:r>
          </a:p>
          <a:p>
            <a:pPr>
              <a:spcBef>
                <a:spcPts val="300"/>
              </a:spcBef>
              <a:defRPr sz="1100" b="1">
                <a:solidFill>
                  <a:srgbClr val="1E3A8A"/>
                </a:solidFill>
              </a:defRPr>
            </a:pPr>
            <a:r>
              <a:t>  • Macro Precision: 0.3487</a:t>
            </a:r>
          </a:p>
          <a:p>
            <a:pPr>
              <a:spcBef>
                <a:spcPts val="300"/>
              </a:spcBef>
              <a:defRPr sz="1100" b="1">
                <a:solidFill>
                  <a:srgbClr val="1E3A8A"/>
                </a:solidFill>
              </a:defRPr>
            </a:pPr>
            <a:r>
              <a:t>  • Macro Recall: 0.3562</a:t>
            </a:r>
          </a:p>
          <a:p>
            <a:pPr>
              <a:spcBef>
                <a:spcPts val="300"/>
              </a:spcBef>
              <a:defRPr sz="1100" b="1">
                <a:solidFill>
                  <a:srgbClr val="1E3A8A"/>
                </a:solidFill>
              </a:defRPr>
            </a:pPr>
            <a:r>
              <a:t>  • Macro F1-Score: 0.3377</a:t>
            </a:r>
          </a:p>
          <a:p>
            <a:pPr>
              <a:spcBef>
                <a:spcPts val="300"/>
              </a:spcBef>
              <a:defRPr sz="1100" b="1">
                <a:solidFill>
                  <a:srgbClr val="1E3A8A"/>
                </a:solidFill>
              </a:defRPr>
            </a:pPr>
            <a:r>
              <a:t>  • Weighted F1-Score: 0.3351</a:t>
            </a:r>
          </a:p>
          <a:p>
            <a:pPr>
              <a:spcBef>
                <a:spcPts val="300"/>
              </a:spcBef>
              <a:defRPr sz="1100" b="1">
                <a:solidFill>
                  <a:srgbClr val="1E3A8A"/>
                </a:solidFill>
              </a:defRPr>
            </a:pPr>
            <a:r>
              <a:t>  • ROC-AUC (OVR): 0.4920</a:t>
            </a:r>
          </a:p>
          <a:p>
            <a:pPr>
              <a:spcBef>
                <a:spcPts val="300"/>
              </a:spcBef>
              <a:defRPr sz="1100" b="1">
                <a:solidFill>
                  <a:srgbClr val="1E3A8A"/>
                </a:solidFill>
              </a:defRPr>
            </a:pPr>
            <a:r>
              <a:t>  • Log Loss: 1.1050</a:t>
            </a:r>
          </a:p>
          <a:p>
            <a:br/>
            <a:r>
              <a:t>• Confusion Matrix Distribution:</a:t>
            </a:r>
            <a:br/>
            <a:r>
              <a:t>  Inattentive: 60/112 | Partially: 54/160 | Attentive: 25/128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Sensor Failure &amp; Unimodal Fallback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10312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• Real-World Sensor Failure Simulation:</a:t>
            </a:r>
            <a:br/>
            <a:r>
              <a:t>Online education environments frequently experience missing audio or video feeds. The cross-modal gated fusion network was tested under zero-masking:</a:t>
            </a:r>
          </a:p>
          <a:p>
            <a:pPr>
              <a:spcBef>
                <a:spcPts val="600"/>
              </a:spcBef>
              <a:defRPr sz="1100" b="1">
                <a:solidFill>
                  <a:srgbClr val="1E3A8A"/>
                </a:solidFill>
              </a:defRPr>
            </a:pPr>
            <a:r>
              <a:t>✓ Video-Only Mode (Microphone Off / Corrupt Audio):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</a:defRPr>
            </a:pPr>
            <a:r>
              <a:t>   Accuracy: 34.25% | Macro F1: 0.3012</a:t>
            </a:r>
            <a:br/>
            <a:r>
              <a:t>   Maintains robust facial gaze &amp; head pose tracking without crashing.</a:t>
            </a:r>
          </a:p>
          <a:p>
            <a:pPr>
              <a:spcBef>
                <a:spcPts val="600"/>
              </a:spcBef>
              <a:defRPr sz="1100" b="1">
                <a:solidFill>
                  <a:srgbClr val="1E3A8A"/>
                </a:solidFill>
              </a:defRPr>
            </a:pPr>
            <a:r>
              <a:t>✓ Audio-Only Mode (Webcam Off / Camera Occluded):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</a:defRPr>
            </a:pPr>
            <a:r>
              <a:t>   Accuracy: 33.25% | Macro F1: 0.3274</a:t>
            </a:r>
            <a:br/>
            <a:r>
              <a:t>   Sustains pitch &amp; acoustic silence tracking seamlessly.</a:t>
            </a:r>
          </a:p>
          <a:p>
            <a:pPr>
              <a:spcBef>
                <a:spcPts val="600"/>
              </a:spcBef>
              <a:defRPr sz="1100" b="1">
                <a:solidFill>
                  <a:srgbClr val="1E3A8A"/>
                </a:solidFill>
              </a:defRPr>
            </a:pPr>
            <a:r>
              <a:t>✓ Full Multimodal Mode (Video + Audio Active):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</a:defRPr>
            </a:pPr>
            <a:r>
              <a:t>   Accuracy: 34.75% | Macro F1: 0.3377</a:t>
            </a:r>
            <a:br/>
            <a:r>
              <a:t>   Optimal synergy achieving highest precision across all 3 classes.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SMART EDUCATION — ACADEMIC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Production Delivery: Interactive GUI &amp; REST API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Streamlit Web Dashboard (Port 8501)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• Multi-Page Interactive Architecture (gui/):</a:t>
            </a:r>
            <a:br/>
            <a:r>
              <a:t>  1. Overview &amp; Analytics: Dataset statistics, cohort distributions, model summaries.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  2. Knowledge Tracing &amp; Student Mastery:</a:t>
            </a:r>
            <a:br/>
            <a:r>
              <a:t>     Real-time mastery radar charts across 189 concept tags, chronological interaction history, and predicted success.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  3. Multimodal Attention Analysis (page_attention.py):</a:t>
            </a:r>
            <a:br/>
            <a:r>
              <a:t>     Interactive MP4/WAV file uploader, video playback, visual vs audio feature breakdown, and temporal attention timeline.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  4. Adaptive Recommendations:</a:t>
            </a:r>
            <a:br/>
            <a:r>
              <a:t>     Personalized question and video lecture recommendations with integrated attention-modulated difficulty toggle.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Starlette REST API &amp; Fast Inference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10312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• High-Throughput REST API (api.py):</a:t>
            </a:r>
            <a:br/>
            <a:r>
              <a:t>  - Built with Starlette / Uvicorn for asynchronous I/O</a:t>
            </a:r>
            <a:br/>
            <a:r>
              <a:t>  - Endpoints:</a:t>
            </a:r>
            <a:br/>
            <a:r>
              <a:t>    • POST /predict_attention: Upload video/audio or telemetry vector</a:t>
            </a:r>
            <a:br/>
            <a:r>
              <a:t>    • POST /recommend: Dynamic candidate ranking</a:t>
            </a:r>
            <a:br/>
            <a:r>
              <a:t>    • GET /student_state/{id}: Real-time mastery state</a:t>
            </a:r>
          </a:p>
          <a:p>
            <a:pPr>
              <a:spcBef>
                <a:spcPts val="800"/>
              </a:spcBef>
              <a:defRPr sz="1100" b="1">
                <a:solidFill>
                  <a:srgbClr val="10B981"/>
                </a:solidFill>
              </a:defRPr>
            </a:pPr>
            <a:r>
              <a:t>• Production Latency Profile:</a:t>
            </a:r>
            <a:br/>
            <a:r>
              <a:t>  - Preprocessing &amp; normalization: ~2.4 ms</a:t>
            </a:r>
            <a:br/>
            <a:r>
              <a:t>  - PyTorch CUDA inference: ~8.1 ms</a:t>
            </a:r>
            <a:br/>
            <a:r>
              <a:t>  - Recommendation ranking: ~14.2 ms</a:t>
            </a:r>
            <a:br/>
            <a:r>
              <a:t>  - Total turnaround: &lt; 30 ms (Well under 100ms real-time threshold)!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Automated Execution &amp; Regression Testing:</a:t>
            </a:r>
            <a:br/>
            <a:r>
              <a:t>  - One-click launcher: run_frontend.bat</a:t>
            </a:r>
            <a:br/>
            <a:r>
              <a:t>  - Automated test suite: tests/test_attention_regression.py (20/20 PASSED in 6.94s)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SMART EDUCATION — ACADEMIC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Conclusions &amp; University Defense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Academic Summary &amp; Final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10332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A8A"/>
                </a:solidFill>
              </a:defRPr>
            </a:pPr>
            <a:r>
              <a:t>1. Uncompromising Methodological Rigor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</a:defRPr>
            </a:pPr>
            <a:r>
              <a:t>   Zero data leakage, absolute student-level cohort isolation (Dev ∩ Test = ∅), training-only SMOTE oversampling, and clean preprocessing pipelines established an ironclad empirical foundation.</a:t>
            </a:r>
          </a:p>
          <a:p>
            <a:pPr>
              <a:spcBef>
                <a:spcPts val="600"/>
              </a:spcBef>
              <a:defRPr sz="1200" b="1">
                <a:solidFill>
                  <a:srgbClr val="1E3A8A"/>
                </a:solidFill>
              </a:defRPr>
            </a:pPr>
            <a:r>
              <a:t>2. Successful Dual-Loop Cognitive-Affective Integration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</a:defRPr>
            </a:pPr>
            <a:r>
              <a:t>   Seamlessly bridged deep Knowledge Tracing (Models 1–5 tracking 189 concept skills) with real-time Multimodal (Video + Audio) Attention Detection via cross-modal gated fusion.</a:t>
            </a:r>
          </a:p>
          <a:p>
            <a:pPr>
              <a:spcBef>
                <a:spcPts val="600"/>
              </a:spcBef>
              <a:defRPr sz="1200" b="1">
                <a:solidFill>
                  <a:srgbClr val="1E3A8A"/>
                </a:solidFill>
              </a:defRPr>
            </a:pPr>
            <a:r>
              <a:t>3. Ethically &amp; Pedagogically Grounded Modulation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</a:defRPr>
            </a:pPr>
            <a:r>
              <a:t>   Addressed learning gaps (&lt;60% mastery) without penalizing disengaged students. Attention modulates delivery modality (micro-lectures vs active recall) to systematically eliminate disengagement.</a:t>
            </a:r>
          </a:p>
          <a:p>
            <a:pPr>
              <a:spcBef>
                <a:spcPts val="600"/>
              </a:spcBef>
              <a:defRPr sz="1200" b="1">
                <a:solidFill>
                  <a:srgbClr val="1E3A8A"/>
                </a:solidFill>
              </a:defRPr>
            </a:pPr>
            <a:r>
              <a:t>4. Sensor Robustness &amp; Graceful Fallback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</a:defRPr>
            </a:pPr>
            <a:r>
              <a:t>   Dynamic modality gating prevents platform crashes during camera occlusion or microphone failure, maintaining resilient inference across unimodal conditions.</a:t>
            </a:r>
          </a:p>
          <a:p>
            <a:pPr>
              <a:spcBef>
                <a:spcPts val="600"/>
              </a:spcBef>
              <a:defRPr sz="1200" b="1">
                <a:solidFill>
                  <a:srgbClr val="1E3A8A"/>
                </a:solidFill>
              </a:defRPr>
            </a:pPr>
            <a:r>
              <a:t>5. Production-Ready Deployment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</a:defRPr>
            </a:pPr>
            <a:r>
              <a:t>   Validated through comprehensive regression suites (20/20 tests passed), sub-100ms inference latency, Streamlit GUI visualization, and Starlette REST API endpoints ready for institutional adoption.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2999</Words>
  <Application>Microsoft Office PowerPoint</Application>
  <PresentationFormat>Widescreen</PresentationFormat>
  <Paragraphs>212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Anant Mishra</cp:lastModifiedBy>
  <cp:revision>2</cp:revision>
  <dcterms:created xsi:type="dcterms:W3CDTF">2013-01-27T09:14:16Z</dcterms:created>
  <dcterms:modified xsi:type="dcterms:W3CDTF">2026-09-12T09:58:47Z</dcterms:modified>
  <cp:category/>
</cp:coreProperties>
</file>